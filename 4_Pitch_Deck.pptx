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open with the tagline. Open by saying: 18 months ago, this market was semi-legal. Today Kalshi and Polymarket are both CFTC-regulated DCMs, CNN and CNBC signed data deals, and the CFTC just opened rulemaking. Then reveal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regulatory legitimization as the unlock. VCs passed in 2022–23 because of regulatory tail risk. That tail just got cut off. Stat cards should feel like news tickers.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pain. The 'today' column should feel exhausting. The right column looks like a terminal. Pain is the whole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explicit: we are NOT the exchange. We are the data + intelligence layer. That keeps margin high, compliance clean, and every venue becomes a partner.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Ship real Figma mocks before pitching. No investor funds a terminal off bullets.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Neutralize the 'why didn't someone build this years ago?' question. Market wasn't legal at scale until 2025-26.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oversell TAM. Investors discount it. Anchor on Bloomberg's $30k/seat. 1/3 of that going to us is still a material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to comps: early data/fintech at 15–30x ARR in 2025–26. Mix matters. $5M ARR at 60% enterprise &gt;&gt; $5M ARR at 80% pro seats.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that 'Bloomberg for prediction markets' is already claimed by 3 players. Our moat is the dataset and news-linkage graph, not positioning.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Investors want a content-marketing flywheel. Our own research becomes inbound for pro seats, and the names on our customer list become the warm intros for desk sales.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specific on raise size, % to eng vs. GTM vs. compliance, and the milestones this capital buys. Milestones: full cross-venue coverage, 500 paying pro seats, 10 desks, 2 enterprise, 1 lighthouse media partner.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vision, not tactics. Keep it under 30 seconds. Then stop talking.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91695" cy="292608"/>
          </a:xfrm>
          <a:prstGeom prst="rect">
            <a:avLst/>
          </a:prstGeom>
          <a:solidFill>
            <a:srgbClr val="050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310896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FED CUT 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59" y="310896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5A524"/>
                </a:solidFill>
                <a:latin typeface="Consolas"/>
              </a:rPr>
              <a:t>38%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39" y="310896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GOP 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39" y="310896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DD4BF"/>
                </a:solidFill>
                <a:latin typeface="Consolas"/>
              </a:rPr>
              <a:t>57%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19" y="310896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BTC &gt;$150K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19" y="310896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5A524"/>
                </a:solidFill>
                <a:latin typeface="Consolas"/>
              </a:rPr>
              <a:t>24%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199" y="310896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CPI &lt;2.5%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799" y="310896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DD4BF"/>
                </a:solidFill>
                <a:latin typeface="Consolas"/>
              </a:rPr>
              <a:t>61%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310896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AI VP PICK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79" y="310896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5A524"/>
                </a:solidFill>
                <a:latin typeface="Consolas"/>
              </a:rPr>
              <a:t> 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5559" y="310896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RECESSION Q4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67159" y="310896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5A524"/>
                </a:solidFill>
                <a:latin typeface="Consolas"/>
              </a:rPr>
              <a:t>17%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188720"/>
            <a:ext cx="73152" cy="47548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234440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onsolas"/>
              </a:rPr>
              <a:t>THE PREDICTION MARKET TERMINAL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1600200"/>
            <a:ext cx="1097280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Georgia"/>
              </a:rPr>
              <a:t>Bloomberg for
prediction markets.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14800"/>
            <a:ext cx="1005840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 i="1">
                <a:solidFill>
                  <a:srgbClr val="F5F1E8"/>
                </a:solidFill>
                <a:latin typeface="Calibri"/>
              </a:rPr>
              <a:t>A cross-venue data, analytics, and intelligence
layer for an asset class that just became real.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989320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Founder name  ·  April 2026  ·  Pre-seed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598932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0" i="0">
                <a:solidFill>
                  <a:srgbClr val="0D9488"/>
                </a:solidFill>
                <a:latin typeface="Consolas"/>
              </a:rPr>
              <a:t>v0.1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30352"/>
            <a:ext cx="164592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846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Georgia"/>
              </a:rPr>
              <a:t>A real asset class, overnight.
The data layer hasn’t caught up.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651760"/>
            <a:ext cx="109728" cy="21031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788920"/>
            <a:ext cx="3200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Consolas"/>
              </a:rPr>
              <a:t>ANPRM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46120"/>
            <a:ext cx="3200400" cy="1463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Calibri"/>
              </a:rPr>
              <a:t>CFTC opens rulemaking on prediction markets
March 2026  ·  comments due April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65176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651760"/>
            <a:ext cx="109728" cy="21031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2788920"/>
            <a:ext cx="3200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Consolas"/>
              </a:rPr>
              <a:t>3rd CIRCUIT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3246120"/>
            <a:ext cx="3200400" cy="1463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Calibri"/>
              </a:rPr>
              <a:t>Kalshi preemption ruling
April 6, 2026  ·  CEA beats state gambling law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65176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2651760"/>
            <a:ext cx="109728" cy="21031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788920"/>
            <a:ext cx="3200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Consolas"/>
              </a:rPr>
              <a:t>US RELAUNCH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246120"/>
            <a:ext cx="3200400" cy="1463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Calibri"/>
              </a:rPr>
              <a:t>Polymarket re-enters US via QCEX
Dec 2, 2025  ·  $112M acquisition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109728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1,600+ event contracts certified by DCMs in 2025. DCM applications more than doubled YoY. Every major broker is launching contracts. And yet — no institutional terminal, no clean historical dataset, no cross-venue signal layer.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PREDICTION MARKET TERMINAL  ·  APRIL 2026  ·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30352"/>
            <a:ext cx="164592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846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Georgia"/>
              </a:rPr>
              <a:t>Pros already use these markets as signal.
They do it from Google Sheets and Twitter.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54864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onsolas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5120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— Hand-stitched scrapers off Kalshi &amp; Polymarket APIs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38728"/>
            <a:ext cx="5120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— No unified tickers or normalized instruments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14216"/>
            <a:ext cx="5120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— No usable historical tick archive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89704"/>
            <a:ext cx="5120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— No calibration scores, no macro overlays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65192"/>
            <a:ext cx="5120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— News linkage done manually via Twitter / Discord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5120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— No embeddable widgets for newsrooms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468880"/>
            <a:ext cx="5212080" cy="3657600"/>
          </a:xfrm>
          <a:prstGeom prst="rect">
            <a:avLst/>
          </a:prstGeom>
          <a:solidFill>
            <a:srgbClr val="0A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606040"/>
            <a:ext cx="4754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onsolas"/>
              </a:rPr>
              <a:t>TERMINAL  · 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063240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5F1E8"/>
                </a:solidFill>
                <a:latin typeface="Consolas"/>
              </a:rPr>
              <a:t>FED CUT 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3063240"/>
            <a:ext cx="1097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onsolas"/>
              </a:rPr>
              <a:t> 38.2%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3063240"/>
            <a:ext cx="1097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2DD4BF"/>
                </a:solidFill>
                <a:latin typeface="Consolas"/>
              </a:rPr>
              <a:t>▲ 2.4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474720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5F1E8"/>
                </a:solidFill>
                <a:latin typeface="Consolas"/>
              </a:rPr>
              <a:t>GOP HOUSE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474720"/>
            <a:ext cx="1097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onsolas"/>
              </a:rPr>
              <a:t> 57.1%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3474720"/>
            <a:ext cx="1097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5A524"/>
                </a:solidFill>
                <a:latin typeface="Consolas"/>
              </a:rPr>
              <a:t>▼ 1.1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886200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5F1E8"/>
                </a:solidFill>
                <a:latin typeface="Consolas"/>
              </a:rPr>
              <a:t>BTC &gt; $150K EOY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3886200"/>
            <a:ext cx="1097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onsolas"/>
              </a:rPr>
              <a:t> 24.6%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3886200"/>
            <a:ext cx="1097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2DD4BF"/>
                </a:solidFill>
                <a:latin typeface="Consolas"/>
              </a:rPr>
              <a:t>▲ 0.8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297680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5F1E8"/>
                </a:solidFill>
                <a:latin typeface="Consolas"/>
              </a:rPr>
              <a:t>CPI &lt; 2.5%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4297680"/>
            <a:ext cx="1097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onsolas"/>
              </a:rPr>
              <a:t> 61.0%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4297680"/>
            <a:ext cx="1097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5A524"/>
                </a:solidFill>
                <a:latin typeface="Consolas"/>
              </a:rPr>
              <a:t>▼ 0.3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709160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5F1E8"/>
                </a:solidFill>
                <a:latin typeface="Consolas"/>
              </a:rPr>
              <a:t>AI VP PICK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4709160"/>
            <a:ext cx="1097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onsolas"/>
              </a:rPr>
              <a:t>  4.2%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4709160"/>
            <a:ext cx="1097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2DD4BF"/>
                </a:solidFill>
                <a:latin typeface="Consolas"/>
              </a:rPr>
              <a:t>▲ 0.2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5120640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5F1E8"/>
                </a:solidFill>
                <a:latin typeface="Consolas"/>
              </a:rPr>
              <a:t>RECESSION Q4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5120640"/>
            <a:ext cx="1097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onsolas"/>
              </a:rPr>
              <a:t> 17.9%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5120640"/>
            <a:ext cx="1097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5A524"/>
                </a:solidFill>
                <a:latin typeface="Consolas"/>
              </a:rPr>
              <a:t>▼ 0.6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PREDICTION MARKET TERMINAL  ·  APRIL 2026  · 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30352"/>
            <a:ext cx="164592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846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Georgia"/>
              </a:rPr>
              <a:t>One terminal, one API — three layers that compound.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11064240" cy="1188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91440" cy="118872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5F1E8"/>
                </a:solidFill>
                <a:latin typeface="Consolas"/>
              </a:rPr>
              <a:t>03 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3657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Terminal  ·  API  ·  Widgets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697480"/>
            <a:ext cx="66751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Cross-venue monitor. Research &amp; backtests. Embeddable live-odds widgets for newsrooms.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57600"/>
            <a:ext cx="11064240" cy="1188720"/>
          </a:xfrm>
          <a:prstGeom prst="rect">
            <a:avLst/>
          </a:prstGeom>
          <a:solidFill>
            <a:srgbClr val="0A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91440" cy="1188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840480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Consolas"/>
              </a:rPr>
              <a:t>02 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60520"/>
            <a:ext cx="3657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Signal &amp;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977639"/>
            <a:ext cx="66751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Historical tick archive. Calibration scores. Macro/equity/crypto correlations. ‘Why is this moving’ news linkage.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37760"/>
            <a:ext cx="11064240" cy="11887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937760"/>
            <a:ext cx="91440" cy="1188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20640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Consolas"/>
              </a:rPr>
              <a:t>01 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40680"/>
            <a:ext cx="3657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Unified feed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5257800"/>
            <a:ext cx="66751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Kalshi  ·  Polymarket  ·  Manifold  ·  PredictIt  ·  new DCMs — normalized tickers, best-bid/offer, implied probabilities.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PREDICTION MARKET TERMINAL  ·  APRIL 2026  ·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30352"/>
            <a:ext cx="164592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846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PRODUCT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Georgia"/>
              </a:rPr>
              <a:t>Terminal UX for the people who already pay for Bloomberg.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onsolas"/>
              </a:rPr>
              <a:t>MONITOR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68880"/>
            <a:ext cx="41148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Every contract across venues — sortable by spread, liquidity, volatility of implied prob.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onsolas"/>
              </a:rPr>
              <a:t>DETAIL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429000"/>
            <a:ext cx="41148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Price, depth, volume — overlaid with news and filings that moved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onsolas"/>
              </a:rPr>
              <a:t>DASHBOARDS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4389120"/>
            <a:ext cx="41148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Macro  ·  Politics  ·  AI  ·  Crypto  ·  Geopolitics  ·  Sports.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49240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onsolas"/>
              </a:rPr>
              <a:t>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349240"/>
            <a:ext cx="41148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CSV export, Python SDK, Jupyter-friendly API keys.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240280"/>
            <a:ext cx="5394960" cy="3931920"/>
          </a:xfrm>
          <a:prstGeom prst="rect">
            <a:avLst/>
          </a:prstGeom>
          <a:solidFill>
            <a:srgbClr val="0A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42316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onsolas"/>
              </a:rPr>
              <a:t>MONITOR ·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2423160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13:42:07 EDT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78892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CONTRACT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78892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78892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PROB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2788920"/>
            <a:ext cx="822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24H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08960"/>
            <a:ext cx="1828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F5F1E8"/>
                </a:solidFill>
                <a:latin typeface="Consolas"/>
              </a:rPr>
              <a:t>FED CUT Q3 '26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108960"/>
            <a:ext cx="10058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KAL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108960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 i="0">
                <a:solidFill>
                  <a:srgbClr val="2DD4BF"/>
                </a:solidFill>
                <a:latin typeface="Consolas"/>
              </a:rPr>
              <a:t>38.2%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3108960"/>
            <a:ext cx="822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2DD4BF"/>
                </a:solidFill>
                <a:latin typeface="Consolas"/>
              </a:rPr>
              <a:t>+2.4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419856"/>
            <a:ext cx="1828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F5F1E8"/>
                </a:solidFill>
                <a:latin typeface="Consolas"/>
              </a:rPr>
              <a:t>FED CUT Q3 '26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419856"/>
            <a:ext cx="10058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POLY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419856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 i="0">
                <a:solidFill>
                  <a:srgbClr val="2DD4BF"/>
                </a:solidFill>
                <a:latin typeface="Consolas"/>
              </a:rPr>
              <a:t>37.9%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3419856"/>
            <a:ext cx="822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2DD4BF"/>
                </a:solidFill>
                <a:latin typeface="Consolas"/>
              </a:rPr>
              <a:t>+2.1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730752"/>
            <a:ext cx="1828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F5F1E8"/>
                </a:solidFill>
                <a:latin typeface="Consolas"/>
              </a:rPr>
              <a:t>BTC &gt; $150K EOY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3730752"/>
            <a:ext cx="10058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POLY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730752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 i="0">
                <a:solidFill>
                  <a:srgbClr val="2DD4BF"/>
                </a:solidFill>
                <a:latin typeface="Consolas"/>
              </a:rPr>
              <a:t>24.6%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3730752"/>
            <a:ext cx="822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2DD4BF"/>
                </a:solidFill>
                <a:latin typeface="Consolas"/>
              </a:rPr>
              <a:t>+0.8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041648"/>
            <a:ext cx="1828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F5F1E8"/>
                </a:solidFill>
                <a:latin typeface="Consolas"/>
              </a:rPr>
              <a:t>CPI &lt; 2.5%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041648"/>
            <a:ext cx="10058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KAL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404164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 i="0">
                <a:solidFill>
                  <a:srgbClr val="2DD4BF"/>
                </a:solidFill>
                <a:latin typeface="Consolas"/>
              </a:rPr>
              <a:t>61.0%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0" y="4041648"/>
            <a:ext cx="822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F5A524"/>
                </a:solidFill>
                <a:latin typeface="Consolas"/>
              </a:rPr>
              <a:t>-0.3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352544"/>
            <a:ext cx="1828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F5F1E8"/>
                </a:solidFill>
                <a:latin typeface="Consolas"/>
              </a:rPr>
              <a:t>GOP HOUSE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4352544"/>
            <a:ext cx="10058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KAL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4352544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 i="0">
                <a:solidFill>
                  <a:srgbClr val="2DD4BF"/>
                </a:solidFill>
                <a:latin typeface="Consolas"/>
              </a:rPr>
              <a:t>57.1%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4352544"/>
            <a:ext cx="822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F5A524"/>
                </a:solidFill>
                <a:latin typeface="Consolas"/>
              </a:rPr>
              <a:t>-1.1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663440"/>
            <a:ext cx="1828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F5F1E8"/>
                </a:solidFill>
                <a:latin typeface="Consolas"/>
              </a:rPr>
              <a:t>AI VP PICK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4663440"/>
            <a:ext cx="10058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POLY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4663440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 i="0">
                <a:solidFill>
                  <a:srgbClr val="2DD4BF"/>
                </a:solidFill>
                <a:latin typeface="Consolas"/>
              </a:rPr>
              <a:t>4.2%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4663440"/>
            <a:ext cx="822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2DD4BF"/>
                </a:solidFill>
                <a:latin typeface="Consolas"/>
              </a:rPr>
              <a:t>+0.2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4974336"/>
            <a:ext cx="1828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F5F1E8"/>
                </a:solidFill>
                <a:latin typeface="Consolas"/>
              </a:rPr>
              <a:t>RECESSION Q4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4974336"/>
            <a:ext cx="10058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KAL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4974336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 i="0">
                <a:solidFill>
                  <a:srgbClr val="2DD4BF"/>
                </a:solidFill>
                <a:latin typeface="Consolas"/>
              </a:rPr>
              <a:t>17.9%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98480" y="4974336"/>
            <a:ext cx="822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F5A524"/>
                </a:solidFill>
                <a:latin typeface="Consolas"/>
              </a:rPr>
              <a:t>-0.6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60" y="5285231"/>
            <a:ext cx="1828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F5F1E8"/>
                </a:solidFill>
                <a:latin typeface="Consolas"/>
              </a:rPr>
              <a:t>SPX &gt; 6000 EOY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5285231"/>
            <a:ext cx="10058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KAL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5285231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 i="0">
                <a:solidFill>
                  <a:srgbClr val="2DD4BF"/>
                </a:solidFill>
                <a:latin typeface="Consolas"/>
              </a:rPr>
              <a:t>43.1%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98480" y="5285231"/>
            <a:ext cx="822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2DD4BF"/>
                </a:solidFill>
                <a:latin typeface="Consolas"/>
              </a:rPr>
              <a:t>+1.0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PREDICTION MARKET TERMINAL  ·  APRIL 2026  ·  CONFIDENTIAL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91695" cy="292608"/>
          </a:xfrm>
          <a:prstGeom prst="rect">
            <a:avLst/>
          </a:prstGeom>
          <a:solidFill>
            <a:srgbClr val="050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310896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FED CUT 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59" y="310896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5A524"/>
                </a:solidFill>
                <a:latin typeface="Consolas"/>
              </a:rPr>
              <a:t>38%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39" y="310896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GOP 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39" y="310896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DD4BF"/>
                </a:solidFill>
                <a:latin typeface="Consolas"/>
              </a:rPr>
              <a:t>57%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19" y="310896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BTC &gt;$150K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19" y="310896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5A524"/>
                </a:solidFill>
                <a:latin typeface="Consolas"/>
              </a:rPr>
              <a:t>24%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199" y="310896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CPI &lt;2.5%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799" y="310896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DD4BF"/>
                </a:solidFill>
                <a:latin typeface="Consolas"/>
              </a:rPr>
              <a:t>61%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310896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AI VP PICK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79" y="310896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5A524"/>
                </a:solidFill>
                <a:latin typeface="Consolas"/>
              </a:rPr>
              <a:t> 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5559" y="310896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RECESSION Q4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67159" y="310896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5A524"/>
                </a:solidFill>
                <a:latin typeface="Consolas"/>
              </a:rPr>
              <a:t>17%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941832"/>
            <a:ext cx="164592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8961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  <a:latin typeface="Calibri"/>
              </a:rPr>
              <a:t>WHY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234440"/>
            <a:ext cx="10972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Four tailwinds in one 12-month window.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468880"/>
            <a:ext cx="5486400" cy="1920240"/>
          </a:xfrm>
          <a:prstGeom prst="rect">
            <a:avLst/>
          </a:prstGeom>
          <a:solidFill>
            <a:srgbClr val="050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468880"/>
            <a:ext cx="91440" cy="19202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69748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onsolas"/>
              </a:rPr>
              <a:t>REGULATION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154680"/>
            <a:ext cx="50292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CFTC ANPRM · 3rd Cir. Kalshi ruling · DCM apps 2× YoY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59" y="2468880"/>
            <a:ext cx="5486400" cy="1920240"/>
          </a:xfrm>
          <a:prstGeom prst="rect">
            <a:avLst/>
          </a:prstGeom>
          <a:solidFill>
            <a:srgbClr val="050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2468880"/>
            <a:ext cx="91440" cy="19202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399" y="269748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onsolas"/>
              </a:rPr>
              <a:t>LEGITIMIZATION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399" y="3154680"/>
            <a:ext cx="50292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Polymarket US via QCEX · Robinhood · IBKR · Crypto.com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663440"/>
            <a:ext cx="5486400" cy="1920240"/>
          </a:xfrm>
          <a:prstGeom prst="rect">
            <a:avLst/>
          </a:prstGeom>
          <a:solidFill>
            <a:srgbClr val="050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663440"/>
            <a:ext cx="91440" cy="19202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89204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onsolas"/>
              </a:rPr>
              <a:t>MEDIA DEMAND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349240"/>
            <a:ext cx="50292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CNN + CNBC signed Kalshi data deals · newsrooms need neutral feeds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59" y="4663440"/>
            <a:ext cx="5486400" cy="1920240"/>
          </a:xfrm>
          <a:prstGeom prst="rect">
            <a:avLst/>
          </a:prstGeom>
          <a:solidFill>
            <a:srgbClr val="050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59" y="4663440"/>
            <a:ext cx="91440" cy="19202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399" y="489204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onsolas"/>
              </a:rPr>
              <a:t>CAPITAL &amp; TALENT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399" y="5349240"/>
            <a:ext cx="50292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'24 election proved markets beat polls · macro funds hiring coverage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PREDICTION MARKET TERMINAL  ·  APRIL 2026  ·  CONFIDENTIAL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onsolas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30352"/>
            <a:ext cx="164592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846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MARKET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Georgia"/>
              </a:rPr>
              <a:t>Anchor on real wallets, not TAM fantasy.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53035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846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onsolas"/>
              </a:rPr>
              <a:t>BLOOMBERG SEAT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484632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0" b="1" i="0">
                <a:solidFill>
                  <a:srgbClr val="0F172A"/>
                </a:solidFill>
                <a:latin typeface="Georgia"/>
              </a:rPr>
              <a:t>~$30K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4846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per user per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484632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Our desk seat prices at 1/3 of that — ~$9k/user/yr. Enterprise API adds $2–10k/mo per customer on top.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onsolas"/>
              </a:rPr>
              <a:t>THE STACK WE DISPLACE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971800"/>
            <a:ext cx="5212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971800"/>
            <a:ext cx="91440" cy="8229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06324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onsolas"/>
              </a:rPr>
              <a:t>TODAY'S WEDGE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319272"/>
            <a:ext cx="48463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Cross-venue data + analytics for prediction markets.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931920"/>
            <a:ext cx="5212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931920"/>
            <a:ext cx="91440" cy="8229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023359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onsolas"/>
              </a:rPr>
              <a:t>ADJACENT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279392"/>
            <a:ext cx="48463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Embeddable widgets, media licensing (CNN/CNBC precedent).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892040"/>
            <a:ext cx="5212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4892040"/>
            <a:ext cx="91440" cy="8229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983479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onsolas"/>
              </a:rPr>
              <a:t>LONG-TERM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239512"/>
            <a:ext cx="48463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Prediction-market-native terminal and data standard; Bloomberg will partner or acquire.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PREDICTION MARKET TERMINAL  ·  APRIL 2026  ·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30352"/>
            <a:ext cx="164592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846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Georgia"/>
              </a:rPr>
              <a:t>Four revenue lines. Enterprise mix drives valuation.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2697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2697480" cy="640080"/>
          </a:xfrm>
          <a:prstGeom prst="rect">
            <a:avLst/>
          </a:prstGeom>
          <a:solidFill>
            <a:srgbClr val="0A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2240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onsolas"/>
              </a:rPr>
              <a:t>PRO SEAT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22402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Georgia"/>
              </a:rPr>
              <a:t>$79–199/mo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39"/>
            <a:ext cx="224028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Self-serve.
Land.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2377440"/>
            <a:ext cx="2697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377440"/>
            <a:ext cx="2697480" cy="640080"/>
          </a:xfrm>
          <a:prstGeom prst="rect">
            <a:avLst/>
          </a:prstGeom>
          <a:solidFill>
            <a:srgbClr val="0A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514600"/>
            <a:ext cx="2240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onsolas"/>
              </a:rPr>
              <a:t>DESK /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154680"/>
            <a:ext cx="22402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Georgia"/>
              </a:rPr>
              <a:t>$500–2k/seat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77639"/>
            <a:ext cx="224028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Funds &amp; prop shops.
Expand.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377440"/>
            <a:ext cx="2697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377440"/>
            <a:ext cx="2697480" cy="640080"/>
          </a:xfrm>
          <a:prstGeom prst="rect">
            <a:avLst/>
          </a:prstGeom>
          <a:solidFill>
            <a:srgbClr val="0A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514600"/>
            <a:ext cx="2240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onsolas"/>
              </a:rPr>
              <a:t>ENTERPRISE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154680"/>
            <a:ext cx="22402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Georgia"/>
              </a:rPr>
              <a:t>$2–10k+/mo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977639"/>
            <a:ext cx="224028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API, bulk history, SLAs.
For funds, fintechs, sportsbooks.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2377440"/>
            <a:ext cx="2697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2377440"/>
            <a:ext cx="2697480" cy="640080"/>
          </a:xfrm>
          <a:prstGeom prst="rect">
            <a:avLst/>
          </a:prstGeom>
          <a:solidFill>
            <a:srgbClr val="0A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2514600"/>
            <a:ext cx="2240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onsolas"/>
              </a:rPr>
              <a:t>MEDIA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154680"/>
            <a:ext cx="22402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Georgia"/>
              </a:rPr>
              <a:t>$5–60k/yr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977639"/>
            <a:ext cx="224028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White-label widgets
for newsrooms &amp; creators.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1">
                <a:solidFill>
                  <a:srgbClr val="0F172A"/>
                </a:solidFill>
                <a:latin typeface="Calibri"/>
              </a:rPr>
              <a:t>Target Year-3 mix: ~60% enterprise + desk, ~25% pro seats, ~15% media — the revenue quality that earns a 20–30× multiple at $5M ARR.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PREDICTION MARKET TERMINAL  ·  APRIL 2026  ·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30352"/>
            <a:ext cx="164592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846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Georgia"/>
              </a:rPr>
              <a:t>Three players claim the tagline. None have the dataset.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10515600" cy="438912"/>
          </a:xfrm>
          <a:prstGeom prst="rect">
            <a:avLst/>
          </a:prstGeom>
          <a:solidFill>
            <a:srgbClr val="0A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27432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5F1E8"/>
                </a:solidFill>
                <a:latin typeface="Consolas"/>
              </a:rP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2423160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5F1E8"/>
                </a:solidFill>
                <a:latin typeface="Consolas"/>
              </a:rPr>
              <a:t>Oddpool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423160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5F1E8"/>
                </a:solidFill>
                <a:latin typeface="Consolas"/>
              </a:rPr>
              <a:t>Verso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423160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5F1E8"/>
                </a:solidFill>
                <a:latin typeface="Consolas"/>
              </a:rPr>
              <a:t>Matchr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423160"/>
            <a:ext cx="15544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5F1E8"/>
                </a:solidFill>
                <a:latin typeface="Consolas"/>
              </a:rPr>
              <a:t>Alphascope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2423160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Consolas"/>
              </a:rPr>
              <a:t>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70632"/>
            <a:ext cx="105156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43784"/>
            <a:ext cx="27432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Cross-venue 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843784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F5A524"/>
                </a:solidFill>
                <a:latin typeface="Consolas"/>
              </a:rPr>
              <a:t>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843784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F5A524"/>
                </a:solidFill>
                <a:latin typeface="Consolas"/>
              </a:rPr>
              <a:t>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843784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0F172A"/>
                </a:solidFill>
                <a:latin typeface="Consolas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843784"/>
            <a:ext cx="15544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F5A524"/>
                </a:solidFill>
                <a:latin typeface="Consolas"/>
              </a:rPr>
              <a:t>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2843784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0D9488"/>
                </a:solidFill>
                <a:latin typeface="Consolas"/>
              </a:rPr>
              <a:t>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09544"/>
            <a:ext cx="10515600" cy="438912"/>
          </a:xfrm>
          <a:prstGeom prst="rect">
            <a:avLst/>
          </a:prstGeom>
          <a:solidFill>
            <a:srgbClr val="F5F1E8"/>
          </a:solidFill>
          <a:ln w="381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282696"/>
            <a:ext cx="27432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Historical tick (&gt;2yr)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3282696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onsolas"/>
              </a:rPr>
              <a:t>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282696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onsolas"/>
              </a:rPr>
              <a:t>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282696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onsolas"/>
              </a:rPr>
              <a:t>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282696"/>
            <a:ext cx="15544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onsolas"/>
              </a:rPr>
              <a:t>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3282696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0D9488"/>
                </a:solidFill>
                <a:latin typeface="Consolas"/>
              </a:rPr>
              <a:t>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648456"/>
            <a:ext cx="105156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721607"/>
            <a:ext cx="27432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Calibration scoring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3721607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onsolas"/>
              </a:rPr>
              <a:t>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721607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onsolas"/>
              </a:rPr>
              <a:t>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721607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onsolas"/>
              </a:rPr>
              <a:t>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3721607"/>
            <a:ext cx="15544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F5A524"/>
                </a:solidFill>
                <a:latin typeface="Consolas"/>
              </a:rPr>
              <a:t>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721607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0D9488"/>
                </a:solidFill>
                <a:latin typeface="Consolas"/>
              </a:rPr>
              <a:t>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087368"/>
            <a:ext cx="10515600" cy="438912"/>
          </a:xfrm>
          <a:prstGeom prst="rect">
            <a:avLst/>
          </a:prstGeom>
          <a:solidFill>
            <a:srgbClr val="F5F1E8"/>
          </a:solidFill>
          <a:ln w="381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160520"/>
            <a:ext cx="27432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News / event linkage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4160520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F5A524"/>
                </a:solidFill>
                <a:latin typeface="Consolas"/>
              </a:rPr>
              <a:t>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4920" y="4160520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0F172A"/>
                </a:solidFill>
                <a:latin typeface="Consolas"/>
              </a:rPr>
              <a:t>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160520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onsolas"/>
              </a:rPr>
              <a:t>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4160520"/>
            <a:ext cx="15544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F5A524"/>
                </a:solidFill>
                <a:latin typeface="Consolas"/>
              </a:rPr>
              <a:t>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4160520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0D9488"/>
                </a:solidFill>
                <a:latin typeface="Consolas"/>
              </a:rPr>
              <a:t>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526279"/>
            <a:ext cx="105156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599431"/>
            <a:ext cx="27432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Institutional API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11880" y="4599431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0F172A"/>
                </a:solidFill>
                <a:latin typeface="Consolas"/>
              </a:rPr>
              <a:t>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74920" y="4599431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F5A524"/>
                </a:solidFill>
                <a:latin typeface="Consolas"/>
              </a:rPr>
              <a:t>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4599431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F5A524"/>
                </a:solidFill>
                <a:latin typeface="Consolas"/>
              </a:rPr>
              <a:t>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4599431"/>
            <a:ext cx="15544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onsolas"/>
              </a:rPr>
              <a:t>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360" y="4599431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0D9488"/>
                </a:solidFill>
                <a:latin typeface="Consolas"/>
              </a:rPr>
              <a:t>●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965192"/>
            <a:ext cx="10515600" cy="438912"/>
          </a:xfrm>
          <a:prstGeom prst="rect">
            <a:avLst/>
          </a:prstGeom>
          <a:solidFill>
            <a:srgbClr val="F5F1E8"/>
          </a:solidFill>
          <a:ln w="381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5038344"/>
            <a:ext cx="27432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Backtesting workflow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11880" y="5038344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onsolas"/>
              </a:rPr>
              <a:t>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74920" y="5038344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onsolas"/>
              </a:rPr>
              <a:t>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60" y="5038344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onsolas"/>
              </a:rPr>
              <a:t>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01000" y="5038344"/>
            <a:ext cx="15544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onsolas"/>
              </a:rPr>
              <a:t>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38360" y="5038344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0D9488"/>
                </a:solidFill>
                <a:latin typeface="Consolas"/>
              </a:rPr>
              <a:t>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404104"/>
            <a:ext cx="105156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5477256"/>
            <a:ext cx="27432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Compliance posture (US)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11880" y="5477256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0F172A"/>
                </a:solidFill>
                <a:latin typeface="Consolas"/>
              </a:rPr>
              <a:t>?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74920" y="5477256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0F172A"/>
                </a:solidFill>
                <a:latin typeface="Consolas"/>
              </a:rPr>
              <a:t>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37960" y="5477256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0F172A"/>
                </a:solidFill>
                <a:latin typeface="Consolas"/>
              </a:rPr>
              <a:t>Risk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01000" y="5477256"/>
            <a:ext cx="15544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0F172A"/>
                </a:solidFill>
                <a:latin typeface="Consolas"/>
              </a:rPr>
              <a:t>?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38360" y="5477256"/>
            <a:ext cx="1280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0D9488"/>
                </a:solidFill>
                <a:latin typeface="Consolas"/>
              </a:rPr>
              <a:t>Data-only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5980176"/>
            <a:ext cx="11887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●  has it     ◑  partial     ○  missing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PREDICTION MARKET TERMINAL  ·  APRIL 2026  ·  CONFIDENTIAL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30352"/>
            <a:ext cx="164592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846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Georgia"/>
              </a:rPr>
              <a:t>Content flywheel → pro seats → desks → enterprise.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2651760" cy="2743200"/>
          </a:xfrm>
          <a:prstGeom prst="rect">
            <a:avLst/>
          </a:prstGeom>
          <a:solidFill>
            <a:srgbClr val="0A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651760"/>
            <a:ext cx="21945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063240"/>
            <a:ext cx="22860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794760"/>
            <a:ext cx="219456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Free research reports
using our own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7832" y="3657600"/>
            <a:ext cx="1828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 i="0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468880"/>
            <a:ext cx="2651760" cy="2743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651760"/>
            <a:ext cx="21945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063240"/>
            <a:ext cx="22860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PRO SEATS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794760"/>
            <a:ext cx="219456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Self-serve tier
land 500+ in year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2472" y="3657600"/>
            <a:ext cx="1828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 i="0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46888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651760"/>
            <a:ext cx="21945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63240"/>
            <a:ext cx="22860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Georgia"/>
              </a:rPr>
              <a:t>DESKS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94760"/>
            <a:ext cx="219456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Founder-led sales
to 20–30 funds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1" y="3657600"/>
            <a:ext cx="1828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 i="0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246888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2651760"/>
            <a:ext cx="21945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Consola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063240"/>
            <a:ext cx="22860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Georgia"/>
              </a:rPr>
              <a:t>ENTERPRISE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794760"/>
            <a:ext cx="219456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Outbound to data
vendors &amp; media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1">
                <a:solidFill>
                  <a:srgbClr val="0F172A"/>
                </a:solidFill>
                <a:latin typeface="Calibri"/>
              </a:rPr>
              <a:t>Lighthouse targets year 1: 5 name-brand macro funds, 1 national newsroom, 500+ paying pro seats, 2 enterprise API contracts.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PREDICTION MARKET TERMINAL  ·  APRIL 2026  ·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30352"/>
            <a:ext cx="164592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846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TEAM &amp;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Georgia"/>
              </a:rPr>
              <a:t>Founding team + $[X]M seed to ship v1 and close lighthouses.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onsolas"/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2560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Founder /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834640"/>
            <a:ext cx="4572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[background — trading, data, or product]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73552"/>
            <a:ext cx="2560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Founding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273552"/>
            <a:ext cx="4572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[data infra / API / low-latency]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12464"/>
            <a:ext cx="2560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Advisor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712464"/>
            <a:ext cx="4572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Fintech / derivatives counsel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51376"/>
            <a:ext cx="2560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Advisor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151376"/>
            <a:ext cx="4572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Macro fund head of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90288"/>
            <a:ext cx="2560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Advisor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590288"/>
            <a:ext cx="4572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Data platform operator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377440"/>
            <a:ext cx="3749039" cy="4023360"/>
          </a:xfrm>
          <a:prstGeom prst="rect">
            <a:avLst/>
          </a:prstGeom>
          <a:solidFill>
            <a:srgbClr val="0A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560320"/>
            <a:ext cx="3291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Consolas"/>
              </a:rPr>
              <a:t>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926080"/>
            <a:ext cx="32918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$[X]M
seed round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434840"/>
            <a:ext cx="329184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F5F1E8"/>
                </a:solidFill>
                <a:latin typeface="Calibri"/>
              </a:rPr>
              <a:t>18 months of runway:
— 2 engineers
— 1 data engineer
— 1 designer
— founder-led GTM
— compliance retainer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PREDICTION MARKET TERMINAL  ·  APRIL 2026  ·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292608"/>
          </a:xfrm>
          <a:prstGeom prst="rect">
            <a:avLst/>
          </a:prstGeom>
          <a:solidFill>
            <a:srgbClr val="050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6391656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FED CUT 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59" y="6391656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5A524"/>
                </a:solidFill>
                <a:latin typeface="Consolas"/>
              </a:rPr>
              <a:t>38%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39" y="6391656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GOP 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39" y="6391656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DD4BF"/>
                </a:solidFill>
                <a:latin typeface="Consolas"/>
              </a:rPr>
              <a:t>57%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19" y="6391656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BTC &gt;$150K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19" y="6391656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5A524"/>
                </a:solidFill>
                <a:latin typeface="Consolas"/>
              </a:rPr>
              <a:t>24%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199" y="6391656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CPI &lt;2.5%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799" y="6391656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DD4BF"/>
                </a:solidFill>
                <a:latin typeface="Consolas"/>
              </a:rPr>
              <a:t>61%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6391656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AI VP PICK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79" y="6391656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5A524"/>
                </a:solidFill>
                <a:latin typeface="Consolas"/>
              </a:rPr>
              <a:t> 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5559" y="6391656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RECESSION Q4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67159" y="6391656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5A524"/>
                </a:solidFill>
                <a:latin typeface="Consolas"/>
              </a:rPr>
              <a:t>17%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941832"/>
            <a:ext cx="164592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8961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  <a:latin typeface="Calibri"/>
              </a:rPr>
              <a:t>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463040"/>
            <a:ext cx="10972800" cy="2011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Georgia"/>
              </a:rPr>
              <a:t>The S&amp;P of
probabilities.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06240"/>
            <a:ext cx="109728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0" i="1">
                <a:solidFill>
                  <a:srgbClr val="F5F1E8"/>
                </a:solidFill>
                <a:latin typeface="Calibri"/>
              </a:rPr>
              <a:t>The data standard every trader, fund, and
newsroom uses to price the future.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52160"/>
            <a:ext cx="9144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2DD4BF"/>
                </a:solidFill>
                <a:latin typeface="Consolas"/>
              </a:rPr>
              <a:t>PREDICTION MARKET TERMINAL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